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0" r:id="rId5"/>
  </p:sldIdLst>
  <p:sldSz cx="18288000" cy="10287000"/>
  <p:notesSz cx="6858000" cy="9144000"/>
  <p:embeddedFontLst>
    <p:embeddedFont>
      <p:font typeface="Gong Gothic Bold" pitchFamily="2" charset="-127"/>
      <p:bold r:id="rId6"/>
    </p:embeddedFont>
    <p:embeddedFont>
      <p:font typeface="Pretendard Bold" panose="02000803000000020004" pitchFamily="2" charset="-127"/>
      <p:bold r:id="rId7"/>
    </p:embeddedFont>
    <p:embeddedFont>
      <p:font typeface="Pretendard Light" panose="02000403000000020004" pitchFamily="2" charset="-127"/>
      <p:regular r:id="rId8"/>
    </p:embeddedFont>
    <p:embeddedFont>
      <p:font typeface="Pretendard Regular" panose="02000503000000020004" pitchFamily="2" charset="-127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79" autoAdjust="0"/>
  </p:normalViewPr>
  <p:slideViewPr>
    <p:cSldViewPr>
      <p:cViewPr varScale="1">
        <p:scale>
          <a:sx n="76" d="100"/>
          <a:sy n="76" d="100"/>
        </p:scale>
        <p:origin x="71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76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00" y="457200"/>
            <a:ext cx="17335500" cy="937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660400"/>
            <a:ext cx="183134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" y="9613900"/>
            <a:ext cx="18313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4483100" y="5130800"/>
            <a:ext cx="103124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2458700" y="5105400"/>
            <a:ext cx="103124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6400" y="8547100"/>
            <a:ext cx="12674600" cy="25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19200" y="3162300"/>
            <a:ext cx="16116300" cy="3987800"/>
          </a:xfrm>
          <a:prstGeom prst="rect">
            <a:avLst/>
          </a:prstGeom>
        </p:spPr>
        <p:txBody>
          <a:bodyPr lIns="0" tIns="1041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199" b="0" i="0" u="none" strike="noStrike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KBO 투수 성적 예측 모델
- 데이터 수집 및 
전처리 파이프라인 구축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80500" y="8699500"/>
            <a:ext cx="7696200" cy="508000"/>
          </a:xfrm>
          <a:prstGeom prst="rect">
            <a:avLst/>
          </a:prstGeom>
        </p:spPr>
        <p:txBody>
          <a:bodyPr lIns="0" tIns="3429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700" b="1" i="0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컴퓨터시스템공학과(심화) 202646017 이소연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B6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79400"/>
            <a:ext cx="17678400" cy="9728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43000" y="982133"/>
            <a:ext cx="166243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현재 진행 상황 요약</a:t>
            </a:r>
            <a:endParaRPr lang="en-US" sz="5600" b="0" i="0" u="none" strike="noStrike" spc="-2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0" y="2527300"/>
            <a:ext cx="16789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0" y="4051300"/>
            <a:ext cx="14693900" cy="4749800"/>
          </a:xfrm>
          <a:prstGeom prst="rect">
            <a:avLst/>
          </a:prstGeom>
          <a:effectLst>
            <a:outerShdw blurRad="141923" dist="218342" dir="2700000">
              <a:srgbClr val="000000">
                <a:alpha val="8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8300" y="3238500"/>
            <a:ext cx="14693900" cy="850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911600" y="3422650"/>
            <a:ext cx="10464800" cy="520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822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2021~2025</a:t>
            </a:r>
            <a:r>
              <a:rPr lang="ko-KR" altLang="en-US" sz="2822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년 </a:t>
            </a:r>
            <a:r>
              <a:rPr lang="en-US" sz="2822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KBO 1</a:t>
            </a:r>
            <a:r>
              <a:rPr lang="ko-KR" altLang="en-US" sz="2822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군 투수 데이터 병합 및 정제</a:t>
            </a:r>
            <a:endParaRPr lang="en-US" sz="2822" b="0" i="0" u="none" strike="noStrike" spc="-1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43100" y="4533900"/>
            <a:ext cx="14211300" cy="3765549"/>
          </a:xfrm>
          <a:prstGeom prst="rect">
            <a:avLst/>
          </a:prstGeom>
        </p:spPr>
        <p:txBody>
          <a:bodyPr lIns="0" tIns="15240" rIns="0" bIns="0" rtlCol="0" anchor="t"/>
          <a:lstStyle/>
          <a:p>
            <a:pPr marL="304800" lvl="1" indent="-3048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KBO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공식 홈페이지에서는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Selenium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활용해 데이터를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크롤링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했고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b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스탯티즈는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안티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크롤링으로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인해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HTML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파일을 직접 저장한 뒤 데이터 표를 추출하는 코드를 작성하여 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확보</a:t>
            </a:r>
            <a:b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ko-KR" altLang="en-US" sz="24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04800" lvl="1" indent="-3048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개명 선수 </a:t>
            </a:r>
            <a:r>
              <a:rPr lang="en" altLang="ko-KR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name_mapping</a:t>
            </a:r>
            <a:r>
              <a:rPr lang="en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처리 및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팀명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복합 키 병합으로 데이터 정합성 확보</a:t>
            </a:r>
            <a:b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ko-KR" altLang="en-US" sz="24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04800" lvl="1" indent="-3048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IP≥25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이닝 필터링 및 외국인 투수 제거로 유효 한국인 투수 표본 확보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타자의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50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타석 필터링과 동일 방식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b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altLang="ko-KR" sz="24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04800" lvl="1" indent="-3048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K/9, BB/9, K/BB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파생 변수 직접 계산 및 연도별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Z-Score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표준화 적용 </a:t>
            </a:r>
            <a:b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타자의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BABIP, ISO,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wOBA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연산과 동일 방식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B6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79400"/>
            <a:ext cx="17678400" cy="9728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2476500"/>
            <a:ext cx="167894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3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300" y="3022600"/>
            <a:ext cx="4787900" cy="86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17600" y="457200"/>
            <a:ext cx="12865100" cy="18796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600" b="0" i="0" u="none" strike="noStrike" spc="-2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트러블</a:t>
            </a:r>
            <a:r>
              <a:rPr 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5600" b="0" i="0" u="none" strike="noStrike" spc="-2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슈팅</a:t>
            </a:r>
            <a:r>
              <a:rPr 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: 
</a:t>
            </a:r>
            <a:r>
              <a:rPr lang="ko-KR" alt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선수 </a:t>
            </a:r>
            <a:r>
              <a:rPr lang="en-US" sz="5600" b="0" i="0" u="none" strike="noStrike" spc="-2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개명</a:t>
            </a:r>
            <a:r>
              <a:rPr lang="ko-KR" altLang="en-US" sz="5600" spc="-2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에</a:t>
            </a:r>
            <a:r>
              <a:rPr lang="ko-KR" altLang="en-US" sz="5600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따른</a:t>
            </a:r>
            <a:r>
              <a:rPr 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5600" b="0" i="0" u="none" strike="noStrike" spc="-2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데이터</a:t>
            </a:r>
            <a:r>
              <a:rPr 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ko-KR" altLang="en-US" sz="5600" b="0" i="0" u="none" strike="noStrike" spc="-2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매칭 실패 문제</a:t>
            </a:r>
            <a:endParaRPr lang="en-US" sz="5600" b="0" i="0" u="none" strike="noStrike" spc="-2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00200" y="31623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100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문제 상황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0" y="4038600"/>
            <a:ext cx="4406900" cy="4991100"/>
          </a:xfrm>
          <a:prstGeom prst="rect">
            <a:avLst/>
          </a:prstGeom>
        </p:spPr>
        <p:txBody>
          <a:bodyPr lIns="0" tIns="14621" rIns="0" bIns="0" rtlCol="0" anchor="t"/>
          <a:lstStyle/>
          <a:p>
            <a:pPr marL="292354" lvl="1" indent="-292354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KBO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공식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홈페이지는</a:t>
            </a:r>
            <a:r>
              <a:rPr lang="ko-KR" alt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과거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시즌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기록도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모두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개명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이름으로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되어있</a:t>
            </a:r>
            <a:r>
              <a:rPr lang="ko-KR" altLang="en-US" sz="2302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는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반면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스탯티즈는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시즌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당시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</a:t>
            </a:r>
            <a:r>
              <a:rPr lang="ko-KR" altLang="en-US" sz="2302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그대로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 되어있음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Ex) </a:t>
            </a:r>
            <a:b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altLang="ko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21.</a:t>
            </a:r>
            <a:r>
              <a:rPr lang="ko-KR" altLang="en-US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최채흥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스탯티즈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),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최지명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(KBO) </a:t>
            </a:r>
            <a:b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병합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불가로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선수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통째로</a:t>
            </a:r>
            <a:r>
              <a:rPr lang="en-US" altLang="ko-Kore-KR" sz="2302" dirty="0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ore-KR" sz="2302" dirty="0" err="1">
                <a:solidFill>
                  <a:srgbClr val="0070C0"/>
                </a:solidFill>
                <a:latin typeface="Pretendard Regular"/>
                <a:ea typeface="Pretendard Regular"/>
                <a:cs typeface="Pretendard Regular"/>
              </a:rPr>
              <a:t>소실</a:t>
            </a:r>
            <a:endParaRPr lang="en-US" sz="2302" b="0" i="0" u="none" strike="noStrike" dirty="0">
              <a:solidFill>
                <a:srgbClr val="0070C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endParaRPr lang="en-US" sz="23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이름만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기준으로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병합할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경우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동일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선수임에도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매칭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누락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72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7200" y="3022600"/>
            <a:ext cx="4787900" cy="863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251700" y="31623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100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해결 방안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0" y="4152900"/>
            <a:ext cx="4572000" cy="4991100"/>
          </a:xfrm>
          <a:prstGeom prst="rect">
            <a:avLst/>
          </a:prstGeom>
        </p:spPr>
        <p:txBody>
          <a:bodyPr lIns="0" tIns="14621" rIns="0" bIns="0" rtlCol="0" anchor="t"/>
          <a:lstStyle/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스탯티즈의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구이름을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KBO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이름으로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변환하는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name_mapping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딕셔너리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김상수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김태혁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와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같이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은퇴한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선수는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예측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대상이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아니므로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name_mapping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처리에서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제외</a:t>
            </a:r>
            <a:endParaRPr lang="en-US" sz="23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968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6800" y="3022600"/>
            <a:ext cx="4787900" cy="863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966700" y="31623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100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결과 및 기대 효과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25400" y="4152900"/>
            <a:ext cx="4584700" cy="2336800"/>
          </a:xfrm>
          <a:prstGeom prst="rect">
            <a:avLst/>
          </a:prstGeom>
        </p:spPr>
        <p:txBody>
          <a:bodyPr lIns="0" tIns="14621" rIns="0" bIns="0" rtlCol="0" anchor="t"/>
          <a:lstStyle/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개명으로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병합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누락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없이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시즌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2354" lvl="1" indent="-292354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추가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개명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선수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name_mapping에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줄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추가만으로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대응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가능한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</a:t>
            </a:r>
            <a:r>
              <a:rPr lang="en-US" sz="23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B6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79400"/>
            <a:ext cx="17678400" cy="9728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2476500"/>
            <a:ext cx="167894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3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300" y="3022600"/>
            <a:ext cx="4787900" cy="86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17600" y="812800"/>
            <a:ext cx="13982700" cy="10160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600" b="0" i="0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향후 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400" y="31496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99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나이·데뷔연도 수집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4165600"/>
            <a:ext cx="4445000" cy="2336800"/>
          </a:xfrm>
          <a:prstGeom prst="rect">
            <a:avLst/>
          </a:prstGeom>
        </p:spPr>
        <p:txBody>
          <a:bodyPr lIns="0" tIns="14605" rIns="0" bIns="0" rtlCol="0" anchor="t"/>
          <a:lstStyle/>
          <a:p>
            <a:pPr marL="292100" lvl="1" indent="-2921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네이버 선수 프로필 크롤링으로 </a:t>
            </a:r>
            <a:b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생년월일 및 프로 데뷔 연도 수집</a:t>
            </a:r>
            <a:b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2100" lvl="1" indent="-2921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나이와 프로 경력 연수를 변수로 </a:t>
            </a:r>
            <a:b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추가해 전성기·노쇠화 패턴을 </a:t>
            </a:r>
            <a:b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모델이 학습할 수 있도록 반영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72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7200" y="3022600"/>
            <a:ext cx="4787900" cy="863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226300" y="31496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99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부상 데이터 수집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0" y="4165600"/>
            <a:ext cx="4572000" cy="3543300"/>
          </a:xfrm>
          <a:prstGeom prst="rect">
            <a:avLst/>
          </a:prstGeom>
        </p:spPr>
        <p:txBody>
          <a:bodyPr lIns="0" tIns="14922" rIns="0" bIns="0" rtlCol="0" anchor="t"/>
          <a:lstStyle/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KBO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공식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등록·말소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기록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크롤링으로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부상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결장일수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네이버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뉴스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크롤링으로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부상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관련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기사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보완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직전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시즌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부상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이력이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시즌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성적에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미치는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영향을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수치화</a:t>
            </a: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96800" y="3860800"/>
            <a:ext cx="4787900" cy="5549900"/>
          </a:xfrm>
          <a:prstGeom prst="rect">
            <a:avLst/>
          </a:prstGeom>
          <a:effectLst>
            <a:outerShdw blurRad="119539" dist="183906" dir="2700000">
              <a:srgbClr val="000000">
                <a:alpha val="8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6800" y="3022600"/>
            <a:ext cx="4787900" cy="863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903200" y="3149600"/>
            <a:ext cx="3848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99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학습 및 모델 선정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1600" y="4343400"/>
            <a:ext cx="4381500" cy="3937000"/>
          </a:xfrm>
          <a:prstGeom prst="rect">
            <a:avLst/>
          </a:prstGeom>
        </p:spPr>
        <p:txBody>
          <a:bodyPr lIns="0" tIns="14922" rIns="0" bIns="0" rtlCol="0" anchor="t"/>
          <a:lstStyle/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Ridge, Lasso,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XGBoost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다양한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알고리즘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비교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Train 2021~2023 /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Valid 2024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분할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98323" lvl="1" indent="-298323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선정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후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2026년 KBO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투수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ERA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예측치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b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도출</a:t>
            </a:r>
            <a:r>
              <a:rPr lang="en-US" sz="2349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49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예정</a:t>
            </a:r>
            <a:endParaRPr lang="en-US" sz="2349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406</Words>
  <Application>Microsoft Macintosh PowerPoint</Application>
  <PresentationFormat>사용자 지정</PresentationFormat>
  <Paragraphs>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Gong Gothic Bold</vt:lpstr>
      <vt:lpstr>Pretendard Bold</vt:lpstr>
      <vt:lpstr>Pretendard Light</vt:lpstr>
      <vt:lpstr>Calibri</vt:lpstr>
      <vt:lpstr>Arial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이소연[컴퓨터시스템공학과]</cp:lastModifiedBy>
  <cp:revision>35</cp:revision>
  <dcterms:created xsi:type="dcterms:W3CDTF">2006-08-16T00:00:00Z</dcterms:created>
  <dcterms:modified xsi:type="dcterms:W3CDTF">2026-10-06T08:19:08Z</dcterms:modified>
</cp:coreProperties>
</file>